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863840" y="1371600"/>
            <a:ext cx="530352" cy="530352"/>
          </a:xfrm>
          <a:prstGeom prst="ellipse">
            <a:avLst/>
          </a:prstGeom>
          <a:solidFill>
            <a:srgbClr val="2B4873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0" y="1371600"/>
            <a:ext cx="530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7" name="Oval 6"/>
          <p:cNvSpPr/>
          <p:nvPr/>
        </p:nvSpPr>
        <p:spPr>
          <a:xfrm>
            <a:off x="8595360" y="1371600"/>
            <a:ext cx="530352" cy="530352"/>
          </a:xfrm>
          <a:prstGeom prst="ellipse">
            <a:avLst/>
          </a:prstGeom>
          <a:solidFill>
            <a:srgbClr val="2B4873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0" y="1371600"/>
            <a:ext cx="530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9" name="Oval 8"/>
          <p:cNvSpPr/>
          <p:nvPr/>
        </p:nvSpPr>
        <p:spPr>
          <a:xfrm>
            <a:off x="9326880" y="1371600"/>
            <a:ext cx="530352" cy="530352"/>
          </a:xfrm>
          <a:prstGeom prst="ellipse">
            <a:avLst/>
          </a:prstGeom>
          <a:solidFill>
            <a:srgbClr val="2B4873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0" y="1371600"/>
            <a:ext cx="530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0" y="1371600"/>
            <a:ext cx="530352" cy="530352"/>
          </a:xfrm>
          <a:prstGeom prst="ellipse">
            <a:avLst/>
          </a:prstGeom>
          <a:solidFill>
            <a:srgbClr val="2B4873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0" y="1371600"/>
            <a:ext cx="530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0" y="2103120"/>
            <a:ext cx="530352" cy="530352"/>
          </a:xfrm>
          <a:prstGeom prst="ellipse">
            <a:avLst/>
          </a:prstGeom>
          <a:solidFill>
            <a:srgbClr val="2B4873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0" y="2103120"/>
            <a:ext cx="530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15" name="Oval 14"/>
          <p:cNvSpPr/>
          <p:nvPr/>
        </p:nvSpPr>
        <p:spPr>
          <a:xfrm>
            <a:off x="8595360" y="2103120"/>
            <a:ext cx="530352" cy="530352"/>
          </a:xfrm>
          <a:prstGeom prst="ellipse">
            <a:avLst/>
          </a:prstGeom>
          <a:solidFill>
            <a:srgbClr val="2B4873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0" y="2103120"/>
            <a:ext cx="530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</a:t>
            </a:r>
          </a:p>
        </p:txBody>
      </p:sp>
      <p:sp>
        <p:nvSpPr>
          <p:cNvPr id="17" name="Oval 16"/>
          <p:cNvSpPr/>
          <p:nvPr/>
        </p:nvSpPr>
        <p:spPr>
          <a:xfrm>
            <a:off x="9326880" y="2103120"/>
            <a:ext cx="530352" cy="530352"/>
          </a:xfrm>
          <a:prstGeom prst="ellipse">
            <a:avLst/>
          </a:prstGeom>
          <a:solidFill>
            <a:srgbClr val="2B4873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0" y="2103120"/>
            <a:ext cx="530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</a:t>
            </a:r>
          </a:p>
        </p:txBody>
      </p:sp>
      <p:sp>
        <p:nvSpPr>
          <p:cNvPr id="19" name="Oval 18"/>
          <p:cNvSpPr/>
          <p:nvPr/>
        </p:nvSpPr>
        <p:spPr>
          <a:xfrm>
            <a:off x="10058400" y="2103120"/>
            <a:ext cx="530352" cy="530352"/>
          </a:xfrm>
          <a:prstGeom prst="ellipse">
            <a:avLst/>
          </a:prstGeom>
          <a:solidFill>
            <a:srgbClr val="2B4873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0" y="2103120"/>
            <a:ext cx="530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1417320"/>
            <a:ext cx="65836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From Caesar to Vigenère</a:t>
            </a:r>
          </a:p>
          <a:p>
            <a:pPr>
              <a:spcBef>
                <a:spcPts val="1000"/>
              </a:spcBef>
              <a:defRPr sz="2600">
                <a:solidFill>
                  <a:srgbClr val="BED7F4"/>
                </a:solidFill>
                <a:latin typeface="Aptos"/>
              </a:defRPr>
            </a:pPr>
            <a:r>
              <a:t>Evolution of Substitution Ciphers</a:t>
            </a:r>
          </a:p>
          <a:p>
            <a:pPr>
              <a:spcBef>
                <a:spcPts val="2400"/>
              </a:spcBef>
              <a:defRPr sz="1700">
                <a:solidFill>
                  <a:srgbClr val="FFFFFF"/>
                </a:solidFill>
                <a:latin typeface="Aptos"/>
              </a:defRPr>
            </a:pPr>
            <a:r>
              <a:t>Technical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892040"/>
            <a:ext cx="369549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Presented by: </a:t>
            </a:r>
            <a:r>
              <a:rPr lang="en-US" dirty="0"/>
              <a:t>Karanam Bhaskar Gnanesh</a:t>
            </a:r>
            <a:endParaRPr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Reg. No</a:t>
            </a:r>
            <a:r>
              <a:rPr lang="en-IN" dirty="0"/>
              <a:t>:192324080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3"/>
                </a:solidFill>
                <a:latin typeface="Aptos Display"/>
              </a:defRPr>
            </a:pPr>
            <a:r>
              <a:t>1. Introduction to Substitution Ciphers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6012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C76"/>
                </a:solidFill>
                <a:latin typeface="Aptos"/>
              </a:defRPr>
            </a:pPr>
            <a:r>
              <a:t>A substitution cipher replaces each plaintext symbol with another symbol.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182880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82880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58191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3"/>
                </a:solidFill>
                <a:latin typeface="Aptos"/>
              </a:defRPr>
            </a:pPr>
            <a:r>
              <a:t>Plaintext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75688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t>The original readable message.</a:t>
            </a:r>
            <a:br/>
            <a:r>
              <a:t>Example: HELLO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29000" cy="182880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73152" cy="1828800"/>
          </a:xfrm>
          <a:prstGeom prst="rect">
            <a:avLst/>
          </a:prstGeom>
          <a:solidFill>
            <a:srgbClr val="2A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58191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3"/>
                </a:solidFill>
                <a:latin typeface="Aptos"/>
              </a:defRPr>
            </a:pPr>
            <a:r>
              <a:t>Encryption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075688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t>A cipher rule transforms the message into ciphertext.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429000" cy="182880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73152" cy="1828800"/>
          </a:xfrm>
          <a:prstGeom prst="rect">
            <a:avLst/>
          </a:prstGeom>
          <a:solidFill>
            <a:srgbClr val="DC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58191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3"/>
                </a:solidFill>
                <a:latin typeface="Aptos"/>
              </a:defRPr>
            </a:pPr>
            <a:r>
              <a:t>Ciphertext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075688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t>The transformed message that should not be readable without the key.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14800" y="2011680"/>
            <a:ext cx="320040" cy="502920"/>
          </a:xfrm>
          <a:prstGeom prst="rightArrow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7818120" y="2011680"/>
            <a:ext cx="320040" cy="502920"/>
          </a:xfrm>
          <a:prstGeom prst="rightArrow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88620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Goal: protect confidentiality by making the message unreadable to unauthorized users.</a:t>
            </a:r>
          </a:p>
          <a:p>
            <a:pPr>
              <a:spcAft>
                <a:spcPts val="9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Classical examples include Caesar, Monoalphabetic, and Vigenère ciphers.</a:t>
            </a:r>
          </a:p>
          <a:p>
            <a:pPr>
              <a:spcAft>
                <a:spcPts val="9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These methods are historically important and help explain modern cryptographic ideas.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C76"/>
                </a:solidFill>
                <a:latin typeface="Aptos"/>
              </a:defRPr>
            </a:pPr>
            <a:r>
              <a:t>Technical Presentation  •  Cryptography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3"/>
                </a:solidFill>
                <a:latin typeface="Aptos Display"/>
              </a:defRPr>
            </a:pPr>
            <a:r>
              <a:t>2. Caesar Cipher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6012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C76"/>
                </a:solidFill>
                <a:latin typeface="Aptos"/>
              </a:defRPr>
            </a:pPr>
            <a:r>
              <a:t>One of the simplest substitution ciphers.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32830"/>
                </a:solidFill>
                <a:latin typeface="Aptos"/>
              </a:defRPr>
            </a:pPr>
            <a:r>
              <a:t>Each letter is shifted by a fixed number of positions.</a:t>
            </a:r>
          </a:p>
          <a:p>
            <a:pPr>
              <a:spcAft>
                <a:spcPts val="900"/>
              </a:spcAft>
              <a:defRPr sz="2000">
                <a:solidFill>
                  <a:srgbClr val="232830"/>
                </a:solidFill>
                <a:latin typeface="Aptos"/>
              </a:defRPr>
            </a:pPr>
            <a:r>
              <a:t>Encryption formula:  C = (P + k) mod 26</a:t>
            </a:r>
          </a:p>
          <a:p>
            <a:pPr>
              <a:spcAft>
                <a:spcPts val="900"/>
              </a:spcAft>
              <a:defRPr sz="2000">
                <a:solidFill>
                  <a:srgbClr val="232830"/>
                </a:solidFill>
                <a:latin typeface="Aptos"/>
              </a:defRPr>
            </a:pPr>
            <a:r>
              <a:t>Decryption formula:  P = (C − k) mod 26</a:t>
            </a:r>
          </a:p>
          <a:p>
            <a:pPr>
              <a:spcAft>
                <a:spcPts val="900"/>
              </a:spcAft>
              <a:defRPr sz="2000">
                <a:solidFill>
                  <a:srgbClr val="232830"/>
                </a:solidFill>
                <a:latin typeface="Aptos"/>
              </a:defRPr>
            </a:pPr>
            <a:r>
              <a:t>Example with k = 3:  A → D, B → E, C → 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508760"/>
            <a:ext cx="329184" cy="411480"/>
          </a:xfrm>
          <a:prstGeom prst="roundRect">
            <a:avLst/>
          </a:prstGeom>
          <a:solidFill>
            <a:srgbClr val="E8F2FC"/>
          </a:solidFill>
          <a:ln>
            <a:solidFill>
              <a:srgbClr val="B4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581912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053"/>
                </a:solidFill>
              </a:defRPr>
            </a:pPr>
            <a:r>
              <a:t>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76872" y="1508760"/>
            <a:ext cx="329184" cy="411480"/>
          </a:xfrm>
          <a:prstGeom prst="roundRect">
            <a:avLst/>
          </a:prstGeom>
          <a:solidFill>
            <a:srgbClr val="E8F2FC"/>
          </a:solidFill>
          <a:ln>
            <a:solidFill>
              <a:srgbClr val="B4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76872" y="1581912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053"/>
                </a:solidFill>
              </a:defRPr>
            </a:pPr>
            <a:r>
              <a:t>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70064" y="1508760"/>
            <a:ext cx="329184" cy="411480"/>
          </a:xfrm>
          <a:prstGeom prst="roundRect">
            <a:avLst/>
          </a:prstGeom>
          <a:solidFill>
            <a:srgbClr val="E8F2FC"/>
          </a:solidFill>
          <a:ln>
            <a:solidFill>
              <a:srgbClr val="B4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70064" y="1581912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053"/>
                </a:solidFill>
              </a:defRPr>
            </a:pPr>
            <a:r>
              <a:t>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63256" y="1508760"/>
            <a:ext cx="329184" cy="411480"/>
          </a:xfrm>
          <a:prstGeom prst="roundRect">
            <a:avLst/>
          </a:prstGeom>
          <a:solidFill>
            <a:srgbClr val="E8F2FC"/>
          </a:solidFill>
          <a:ln>
            <a:solidFill>
              <a:srgbClr val="B4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63256" y="1581912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053"/>
                </a:solidFill>
              </a:defRPr>
            </a:pPr>
            <a:r>
              <a:t>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508760"/>
            <a:ext cx="329184" cy="411480"/>
          </a:xfrm>
          <a:prstGeom prst="roundRect">
            <a:avLst/>
          </a:prstGeom>
          <a:solidFill>
            <a:srgbClr val="E8F2FC"/>
          </a:solidFill>
          <a:ln>
            <a:solidFill>
              <a:srgbClr val="B4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56448" y="1581912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053"/>
                </a:solidFill>
              </a:defRPr>
            </a:pPr>
            <a:r>
              <a:t>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1508760"/>
            <a:ext cx="329184" cy="411480"/>
          </a:xfrm>
          <a:prstGeom prst="roundRect">
            <a:avLst/>
          </a:prstGeom>
          <a:solidFill>
            <a:srgbClr val="E8F2FC"/>
          </a:solidFill>
          <a:ln>
            <a:solidFill>
              <a:srgbClr val="B4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9640" y="1581912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053"/>
                </a:solidFill>
              </a:defRPr>
            </a:pPr>
            <a:r>
              <a:t>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42832" y="1508760"/>
            <a:ext cx="329184" cy="411480"/>
          </a:xfrm>
          <a:prstGeom prst="roundRect">
            <a:avLst/>
          </a:prstGeom>
          <a:solidFill>
            <a:srgbClr val="E8F2FC"/>
          </a:solidFill>
          <a:ln>
            <a:solidFill>
              <a:srgbClr val="B4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42832" y="1581912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053"/>
                </a:solidFill>
              </a:defRPr>
            </a:pPr>
            <a:r>
              <a:t>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36024" y="1508760"/>
            <a:ext cx="329184" cy="411480"/>
          </a:xfrm>
          <a:prstGeom prst="roundRect">
            <a:avLst/>
          </a:prstGeom>
          <a:solidFill>
            <a:srgbClr val="E8F2FC"/>
          </a:solidFill>
          <a:ln>
            <a:solidFill>
              <a:srgbClr val="B4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36024" y="1581912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053"/>
                </a:solidFill>
              </a:defRPr>
            </a:pPr>
            <a:r>
              <a:t>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29216" y="1508760"/>
            <a:ext cx="329184" cy="411480"/>
          </a:xfrm>
          <a:prstGeom prst="roundRect">
            <a:avLst/>
          </a:prstGeom>
          <a:solidFill>
            <a:srgbClr val="E8F2FC"/>
          </a:solidFill>
          <a:ln>
            <a:solidFill>
              <a:srgbClr val="B4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29216" y="1581912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053"/>
                </a:solidFill>
              </a:defRPr>
            </a:pPr>
            <a:r>
              <a:t>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22408" y="1508760"/>
            <a:ext cx="329184" cy="411480"/>
          </a:xfrm>
          <a:prstGeom prst="roundRect">
            <a:avLst/>
          </a:prstGeom>
          <a:solidFill>
            <a:srgbClr val="E8F2FC"/>
          </a:solidFill>
          <a:ln>
            <a:solidFill>
              <a:srgbClr val="B4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122408" y="1581912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053"/>
                </a:solidFill>
              </a:defRPr>
            </a:pPr>
            <a:r>
              <a:t>J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15600" y="1508760"/>
            <a:ext cx="329184" cy="411480"/>
          </a:xfrm>
          <a:prstGeom prst="roundRect">
            <a:avLst/>
          </a:prstGeom>
          <a:solidFill>
            <a:srgbClr val="E8F2FC"/>
          </a:solidFill>
          <a:ln>
            <a:solidFill>
              <a:srgbClr val="B4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515600" y="1581912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053"/>
                </a:solidFill>
              </a:defRPr>
            </a:pPr>
            <a:r>
              <a:t>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08792" y="1508760"/>
            <a:ext cx="329184" cy="411480"/>
          </a:xfrm>
          <a:prstGeom prst="roundRect">
            <a:avLst/>
          </a:prstGeom>
          <a:solidFill>
            <a:srgbClr val="E8F2FC"/>
          </a:solidFill>
          <a:ln>
            <a:solidFill>
              <a:srgbClr val="B4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08792" y="1581912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053"/>
                </a:solidFill>
              </a:defRPr>
            </a:pPr>
            <a:r>
              <a:t>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301984" y="1508760"/>
            <a:ext cx="329184" cy="411480"/>
          </a:xfrm>
          <a:prstGeom prst="roundRect">
            <a:avLst/>
          </a:prstGeom>
          <a:solidFill>
            <a:srgbClr val="E8F2FC"/>
          </a:solidFill>
          <a:ln>
            <a:solidFill>
              <a:srgbClr val="B4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301984" y="1581912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053"/>
                </a:solidFill>
              </a:defRPr>
            </a:pPr>
            <a:r>
              <a:t>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2075688"/>
            <a:ext cx="329184" cy="411480"/>
          </a:xfrm>
          <a:prstGeom prst="roundRect">
            <a:avLst/>
          </a:prstGeom>
          <a:solidFill>
            <a:srgbClr val="E8F2FC"/>
          </a:solidFill>
          <a:ln>
            <a:solidFill>
              <a:srgbClr val="B4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0" y="2148840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053"/>
                </a:solidFill>
              </a:defRPr>
            </a:pPr>
            <a:r>
              <a:t>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76872" y="2075688"/>
            <a:ext cx="329184" cy="411480"/>
          </a:xfrm>
          <a:prstGeom prst="roundRect">
            <a:avLst/>
          </a:prstGeom>
          <a:solidFill>
            <a:srgbClr val="E8F2FC"/>
          </a:solidFill>
          <a:ln>
            <a:solidFill>
              <a:srgbClr val="B4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76872" y="2148840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053"/>
                </a:solidFill>
              </a:defRPr>
            </a:pPr>
            <a:r>
              <a:t>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70064" y="2075688"/>
            <a:ext cx="329184" cy="411480"/>
          </a:xfrm>
          <a:prstGeom prst="roundRect">
            <a:avLst/>
          </a:prstGeom>
          <a:solidFill>
            <a:srgbClr val="E8F2FC"/>
          </a:solidFill>
          <a:ln>
            <a:solidFill>
              <a:srgbClr val="B4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70064" y="2148840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053"/>
                </a:solidFill>
              </a:defRPr>
            </a:pPr>
            <a:r>
              <a:t>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63256" y="2075688"/>
            <a:ext cx="329184" cy="411480"/>
          </a:xfrm>
          <a:prstGeom prst="roundRect">
            <a:avLst/>
          </a:prstGeom>
          <a:solidFill>
            <a:srgbClr val="E8F2FC"/>
          </a:solidFill>
          <a:ln>
            <a:solidFill>
              <a:srgbClr val="B4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63256" y="2148840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053"/>
                </a:solidFill>
              </a:defRPr>
            </a:pPr>
            <a:r>
              <a:t>Q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56448" y="2075688"/>
            <a:ext cx="329184" cy="411480"/>
          </a:xfrm>
          <a:prstGeom prst="roundRect">
            <a:avLst/>
          </a:prstGeom>
          <a:solidFill>
            <a:srgbClr val="E8F2FC"/>
          </a:solidFill>
          <a:ln>
            <a:solidFill>
              <a:srgbClr val="B4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56448" y="2148840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053"/>
                </a:solidFill>
              </a:defRPr>
            </a:pPr>
            <a:r>
              <a:t>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49640" y="2075688"/>
            <a:ext cx="329184" cy="411480"/>
          </a:xfrm>
          <a:prstGeom prst="roundRect">
            <a:avLst/>
          </a:prstGeom>
          <a:solidFill>
            <a:srgbClr val="E8F2FC"/>
          </a:solidFill>
          <a:ln>
            <a:solidFill>
              <a:srgbClr val="B4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49640" y="2148840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053"/>
                </a:solidFill>
              </a:defRPr>
            </a:pPr>
            <a:r>
              <a:t>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42832" y="2075688"/>
            <a:ext cx="329184" cy="411480"/>
          </a:xfrm>
          <a:prstGeom prst="roundRect">
            <a:avLst/>
          </a:prstGeom>
          <a:solidFill>
            <a:srgbClr val="E8F2FC"/>
          </a:solidFill>
          <a:ln>
            <a:solidFill>
              <a:srgbClr val="B4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942832" y="2148840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053"/>
                </a:solidFill>
              </a:defRPr>
            </a:pPr>
            <a:r>
              <a:t>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36024" y="2075688"/>
            <a:ext cx="329184" cy="411480"/>
          </a:xfrm>
          <a:prstGeom prst="roundRect">
            <a:avLst/>
          </a:prstGeom>
          <a:solidFill>
            <a:srgbClr val="E8F2FC"/>
          </a:solidFill>
          <a:ln>
            <a:solidFill>
              <a:srgbClr val="B4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336024" y="2148840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053"/>
                </a:solidFill>
              </a:defRPr>
            </a:pPr>
            <a:r>
              <a:t>U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729216" y="2075688"/>
            <a:ext cx="329184" cy="411480"/>
          </a:xfrm>
          <a:prstGeom prst="roundRect">
            <a:avLst/>
          </a:prstGeom>
          <a:solidFill>
            <a:srgbClr val="E8F2FC"/>
          </a:solidFill>
          <a:ln>
            <a:solidFill>
              <a:srgbClr val="B4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729216" y="2148840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053"/>
                </a:solidFill>
              </a:defRPr>
            </a:pPr>
            <a:r>
              <a:t>V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122408" y="2075688"/>
            <a:ext cx="329184" cy="411480"/>
          </a:xfrm>
          <a:prstGeom prst="roundRect">
            <a:avLst/>
          </a:prstGeom>
          <a:solidFill>
            <a:srgbClr val="E8F2FC"/>
          </a:solidFill>
          <a:ln>
            <a:solidFill>
              <a:srgbClr val="B4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122408" y="2148840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053"/>
                </a:solidFill>
              </a:defRPr>
            </a:pPr>
            <a:r>
              <a:t>W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515600" y="2075688"/>
            <a:ext cx="329184" cy="411480"/>
          </a:xfrm>
          <a:prstGeom prst="roundRect">
            <a:avLst/>
          </a:prstGeom>
          <a:solidFill>
            <a:srgbClr val="E8F2FC"/>
          </a:solidFill>
          <a:ln>
            <a:solidFill>
              <a:srgbClr val="B4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515600" y="2148840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053"/>
                </a:solidFill>
              </a:defRPr>
            </a:pPr>
            <a:r>
              <a:t>X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908792" y="2075688"/>
            <a:ext cx="329184" cy="411480"/>
          </a:xfrm>
          <a:prstGeom prst="roundRect">
            <a:avLst/>
          </a:prstGeom>
          <a:solidFill>
            <a:srgbClr val="E8F2FC"/>
          </a:solidFill>
          <a:ln>
            <a:solidFill>
              <a:srgbClr val="B4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908792" y="2148840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053"/>
                </a:solidFill>
              </a:defRPr>
            </a:pPr>
            <a:r>
              <a:t>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1301984" y="2075688"/>
            <a:ext cx="329184" cy="411480"/>
          </a:xfrm>
          <a:prstGeom prst="roundRect">
            <a:avLst/>
          </a:prstGeom>
          <a:solidFill>
            <a:srgbClr val="E8F2FC"/>
          </a:solidFill>
          <a:ln>
            <a:solidFill>
              <a:srgbClr val="B4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301984" y="2148840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053"/>
                </a:solidFill>
              </a:defRPr>
            </a:pPr>
            <a:r>
              <a:t>Z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37960" y="27889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6FBF"/>
                </a:solidFill>
              </a:defRPr>
            </a:pPr>
            <a:r>
              <a:t>Example:  HELLO  →  KHOOR  (key = 3)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77240" y="4297680"/>
            <a:ext cx="5303520" cy="114300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77240" y="4297680"/>
            <a:ext cx="73152" cy="1143000"/>
          </a:xfrm>
          <a:prstGeom prst="rect">
            <a:avLst/>
          </a:prstGeom>
          <a:solidFill>
            <a:srgbClr val="2A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78408" y="446227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3"/>
                </a:solidFill>
                <a:latin typeface="Aptos"/>
              </a:defRPr>
            </a:pPr>
            <a:r>
              <a:t>Advantage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" y="4956048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t>Very simple, fast, and easy to implement.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309360" y="4297680"/>
            <a:ext cx="5074920" cy="114300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309360" y="4297680"/>
            <a:ext cx="73152" cy="1143000"/>
          </a:xfrm>
          <a:prstGeom prst="rect">
            <a:avLst/>
          </a:prstGeom>
          <a:solidFill>
            <a:srgbClr val="B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510528" y="4462272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3"/>
                </a:solidFill>
                <a:latin typeface="Aptos"/>
              </a:defRPr>
            </a:pPr>
            <a:r>
              <a:t>Limitation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10528" y="4956048"/>
            <a:ext cx="4709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t>Only 25 possible non-zero shifts; easy to brute-force.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40080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C76"/>
                </a:solidFill>
                <a:latin typeface="Aptos"/>
              </a:defRPr>
            </a:pPr>
            <a:r>
              <a:t>Technical Presentation  •  Cryptography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3"/>
                </a:solidFill>
                <a:latin typeface="Aptos Display"/>
              </a:defRPr>
            </a:pPr>
            <a:r>
              <a:t>3. Why Caesar Cipher Is Weak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6012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C76"/>
                </a:solidFill>
                <a:latin typeface="Aptos"/>
              </a:defRPr>
            </a:pPr>
            <a:r>
              <a:t>Its fixed substitution creates predictable patterns.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74720" cy="182880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73152" cy="1828800"/>
          </a:xfrm>
          <a:prstGeom prst="rect">
            <a:avLst/>
          </a:prstGeom>
          <a:solidFill>
            <a:srgbClr val="B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3619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3"/>
                </a:solidFill>
                <a:latin typeface="Aptos"/>
              </a:defRPr>
            </a:pPr>
            <a:r>
              <a:t>1. Small Key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29967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t>Only 25 meaningful shifts.</a:t>
            </a:r>
            <a:br/>
            <a:r>
              <a:t>An attacker can try every shift.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74720" cy="182880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73152" cy="1828800"/>
          </a:xfrm>
          <a:prstGeom prst="rect">
            <a:avLst/>
          </a:prstGeom>
          <a:solidFill>
            <a:srgbClr val="DC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53619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3"/>
                </a:solidFill>
                <a:latin typeface="Aptos"/>
              </a:defRPr>
            </a:pPr>
            <a:r>
              <a:t>2. Frequency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029967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t>Common letters such as E and T remain common after shifting.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474720" cy="182880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73152" cy="182880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53619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3"/>
                </a:solidFill>
                <a:latin typeface="Aptos"/>
              </a:defRPr>
            </a:pPr>
            <a:r>
              <a:t>3. Pattern Leakage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029967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t>Repeated plaintext letters produce repeated ciphertext letters.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94760"/>
            <a:ext cx="10241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053"/>
                </a:solidFill>
              </a:defRPr>
            </a:pPr>
            <a:r>
              <a:t>Ciphertext:  KHOOR  ZRUOG</a:t>
            </a:r>
          </a:p>
          <a:p>
            <a:pPr>
              <a:spcBef>
                <a:spcPts val="800"/>
              </a:spcBef>
              <a:defRPr sz="1800">
                <a:solidFill>
                  <a:srgbClr val="646C76"/>
                </a:solidFill>
              </a:defRPr>
            </a:pPr>
            <a:r>
              <a:t>Try shifts → identify a meaningful English phrase → recover plaintext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6636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Conclusion: Caesar is useful for learning, but not suitable for protecting sensitive modern data.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C76"/>
                </a:solidFill>
                <a:latin typeface="Aptos"/>
              </a:defRPr>
            </a:pPr>
            <a:r>
              <a:t>Technical Presentation  •  Cryptography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3"/>
                </a:solidFill>
                <a:latin typeface="Aptos Display"/>
              </a:defRPr>
            </a:pPr>
            <a:r>
              <a:t>4. Vigenère Cipher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6012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C76"/>
                </a:solidFill>
                <a:latin typeface="Aptos"/>
              </a:defRPr>
            </a:pPr>
            <a:r>
              <a:t>A polyalphabetic substitution cipher that uses a repeating keyword.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Instead of one fixed shift, Vigenère uses a different shift for each character.</a:t>
            </a:r>
          </a:p>
          <a:p>
            <a:pPr>
              <a:spcAft>
                <a:spcPts val="9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The keyword determines the sequence of shifts.</a:t>
            </a:r>
          </a:p>
          <a:p>
            <a:pPr>
              <a:spcAft>
                <a:spcPts val="9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Encryption: Cᵢ = (Pᵢ + Kᵢ) mod 26</a:t>
            </a:r>
          </a:p>
          <a:p>
            <a:pPr>
              <a:spcAft>
                <a:spcPts val="900"/>
              </a:spcAft>
              <a:defRPr sz="1900">
                <a:solidFill>
                  <a:srgbClr val="232830"/>
                </a:solidFill>
                <a:latin typeface="Aptos"/>
              </a:defRPr>
            </a:pPr>
            <a:r>
              <a:t>Decryption: Pᵢ = (Cᵢ − Kᵢ) mod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325880"/>
            <a:ext cx="612648" cy="530352"/>
          </a:xfrm>
          <a:prstGeom prst="rect">
            <a:avLst/>
          </a:prstGeom>
          <a:solidFill>
            <a:srgbClr val="E8F2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426464"/>
            <a:ext cx="6126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183053"/>
                </a:solidFill>
              </a:defRPr>
            </a:pPr>
            <a:r>
              <a:t>Plain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104888" y="1325880"/>
            <a:ext cx="612648" cy="530352"/>
          </a:xfrm>
          <a:prstGeom prst="rect">
            <a:avLst/>
          </a:prstGeom>
          <a:solidFill>
            <a:srgbClr val="E8F2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04888" y="1426464"/>
            <a:ext cx="6126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183053"/>
                </a:solidFill>
              </a:defRPr>
            </a:pPr>
            <a: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17536" y="1325880"/>
            <a:ext cx="612648" cy="530352"/>
          </a:xfrm>
          <a:prstGeom prst="rect">
            <a:avLst/>
          </a:prstGeom>
          <a:solidFill>
            <a:srgbClr val="E8F2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17536" y="1426464"/>
            <a:ext cx="6126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183053"/>
                </a:solidFill>
              </a:defRPr>
            </a:pPr>
            <a:r>
              <a:t>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30183" y="1325880"/>
            <a:ext cx="612648" cy="530352"/>
          </a:xfrm>
          <a:prstGeom prst="rect">
            <a:avLst/>
          </a:prstGeom>
          <a:solidFill>
            <a:srgbClr val="E8F2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30183" y="1426464"/>
            <a:ext cx="6126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183053"/>
                </a:solidFill>
              </a:defRPr>
            </a:pPr>
            <a:r>
              <a:t>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42832" y="1325880"/>
            <a:ext cx="612648" cy="530352"/>
          </a:xfrm>
          <a:prstGeom prst="rect">
            <a:avLst/>
          </a:prstGeom>
          <a:solidFill>
            <a:srgbClr val="E8F2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42832" y="1426464"/>
            <a:ext cx="6126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183053"/>
                </a:solidFill>
              </a:defRPr>
            </a:pPr>
            <a:r>
              <a:t>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55480" y="1325880"/>
            <a:ext cx="612648" cy="530352"/>
          </a:xfrm>
          <a:prstGeom prst="rect">
            <a:avLst/>
          </a:prstGeom>
          <a:solidFill>
            <a:srgbClr val="E8F2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55480" y="1426464"/>
            <a:ext cx="6126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183053"/>
                </a:solidFill>
              </a:defRPr>
            </a:pPr>
            <a:r>
              <a:t>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68128" y="1325880"/>
            <a:ext cx="612648" cy="530352"/>
          </a:xfrm>
          <a:prstGeom prst="rect">
            <a:avLst/>
          </a:prstGeom>
          <a:solidFill>
            <a:srgbClr val="E8F2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168128" y="1426464"/>
            <a:ext cx="6126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183053"/>
                </a:solidFill>
              </a:defRPr>
            </a:pPr>
            <a:r>
              <a:t>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80776" y="1325880"/>
            <a:ext cx="612648" cy="530352"/>
          </a:xfrm>
          <a:prstGeom prst="rect">
            <a:avLst/>
          </a:prstGeom>
          <a:solidFill>
            <a:srgbClr val="E8F2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780776" y="1426464"/>
            <a:ext cx="6126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183053"/>
                </a:solidFill>
              </a:defRPr>
            </a:pPr>
            <a:r>
              <a:t>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856231"/>
            <a:ext cx="612648" cy="530352"/>
          </a:xfrm>
          <a:prstGeom prst="rect">
            <a:avLst/>
          </a:prstGeom>
          <a:solidFill>
            <a:srgbClr val="E8F2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1956815"/>
            <a:ext cx="6126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183053"/>
                </a:solidFill>
              </a:defRPr>
            </a:pPr>
            <a:r>
              <a:t>Key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04888" y="1856231"/>
            <a:ext cx="612648" cy="530352"/>
          </a:xfrm>
          <a:prstGeom prst="rect">
            <a:avLst/>
          </a:prstGeom>
          <a:solidFill>
            <a:srgbClr val="E8F2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04888" y="1956815"/>
            <a:ext cx="6126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183053"/>
                </a:solidFill>
              </a:defRPr>
            </a:pPr>
            <a:r>
              <a:t>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17536" y="1856231"/>
            <a:ext cx="612648" cy="530352"/>
          </a:xfrm>
          <a:prstGeom prst="rect">
            <a:avLst/>
          </a:prstGeom>
          <a:solidFill>
            <a:srgbClr val="E8F2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17536" y="1956815"/>
            <a:ext cx="6126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183053"/>
                </a:solidFill>
              </a:defRPr>
            </a:pPr>
            <a:r>
              <a:t>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30183" y="1856231"/>
            <a:ext cx="612648" cy="530352"/>
          </a:xfrm>
          <a:prstGeom prst="rect">
            <a:avLst/>
          </a:prstGeom>
          <a:solidFill>
            <a:srgbClr val="E8F2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30183" y="1956815"/>
            <a:ext cx="6126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183053"/>
                </a:solidFill>
              </a:defRPr>
            </a:pPr>
            <a:r>
              <a:t>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42832" y="1856231"/>
            <a:ext cx="612648" cy="530352"/>
          </a:xfrm>
          <a:prstGeom prst="rect">
            <a:avLst/>
          </a:prstGeom>
          <a:solidFill>
            <a:srgbClr val="E8F2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42832" y="1956815"/>
            <a:ext cx="6126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183053"/>
                </a:solidFill>
              </a:defRPr>
            </a:pPr>
            <a:r>
              <a:t>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55480" y="1856231"/>
            <a:ext cx="612648" cy="530352"/>
          </a:xfrm>
          <a:prstGeom prst="rect">
            <a:avLst/>
          </a:prstGeom>
          <a:solidFill>
            <a:srgbClr val="E8F2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555480" y="1956815"/>
            <a:ext cx="6126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183053"/>
                </a:solidFill>
              </a:defRPr>
            </a:pPr>
            <a:r>
              <a:t>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68128" y="1856231"/>
            <a:ext cx="612648" cy="530352"/>
          </a:xfrm>
          <a:prstGeom prst="rect">
            <a:avLst/>
          </a:prstGeom>
          <a:solidFill>
            <a:srgbClr val="E8F2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168128" y="1956815"/>
            <a:ext cx="6126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183053"/>
                </a:solidFill>
              </a:defRPr>
            </a:pPr>
            <a:r>
              <a:t>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780776" y="1856231"/>
            <a:ext cx="612648" cy="530352"/>
          </a:xfrm>
          <a:prstGeom prst="rect">
            <a:avLst/>
          </a:prstGeom>
          <a:solidFill>
            <a:srgbClr val="E8F2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780776" y="1956815"/>
            <a:ext cx="6126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183053"/>
                </a:solidFill>
              </a:defRPr>
            </a:pPr>
            <a:r>
              <a:t>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2386584"/>
            <a:ext cx="612648" cy="530352"/>
          </a:xfrm>
          <a:prstGeom prst="rect">
            <a:avLst/>
          </a:prstGeom>
          <a:solidFill>
            <a:srgbClr val="DEF1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92240" y="2487168"/>
            <a:ext cx="6126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3053"/>
                </a:solidFill>
              </a:defRPr>
            </a:pPr>
            <a:r>
              <a:t>Cipher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04888" y="2386584"/>
            <a:ext cx="612648" cy="530352"/>
          </a:xfrm>
          <a:prstGeom prst="rect">
            <a:avLst/>
          </a:prstGeom>
          <a:solidFill>
            <a:srgbClr val="DEF1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104888" y="2487168"/>
            <a:ext cx="6126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3053"/>
                </a:solidFill>
              </a:defRPr>
            </a:pPr>
            <a:r>
              <a:t>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17536" y="2386584"/>
            <a:ext cx="612648" cy="530352"/>
          </a:xfrm>
          <a:prstGeom prst="rect">
            <a:avLst/>
          </a:prstGeom>
          <a:solidFill>
            <a:srgbClr val="DEF1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717536" y="2487168"/>
            <a:ext cx="6126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3053"/>
                </a:solidFill>
              </a:defRPr>
            </a:pPr>
            <a:r>
              <a:t>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30183" y="2386584"/>
            <a:ext cx="612648" cy="530352"/>
          </a:xfrm>
          <a:prstGeom prst="rect">
            <a:avLst/>
          </a:prstGeom>
          <a:solidFill>
            <a:srgbClr val="DEF1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30183" y="2487168"/>
            <a:ext cx="6126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3053"/>
                </a:solidFill>
              </a:defRPr>
            </a:pPr>
            <a:r>
              <a:t>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42832" y="2386584"/>
            <a:ext cx="612648" cy="530352"/>
          </a:xfrm>
          <a:prstGeom prst="rect">
            <a:avLst/>
          </a:prstGeom>
          <a:solidFill>
            <a:srgbClr val="DEF1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942832" y="2487168"/>
            <a:ext cx="6126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3053"/>
                </a:solidFill>
              </a:defRPr>
            </a:pPr>
            <a:r>
              <a:t>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55480" y="2386584"/>
            <a:ext cx="612648" cy="530352"/>
          </a:xfrm>
          <a:prstGeom prst="rect">
            <a:avLst/>
          </a:prstGeom>
          <a:solidFill>
            <a:srgbClr val="DEF1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555480" y="2487168"/>
            <a:ext cx="6126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3053"/>
                </a:solidFill>
              </a:defRPr>
            </a:pPr>
            <a:r>
              <a:t>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168128" y="2386584"/>
            <a:ext cx="612648" cy="530352"/>
          </a:xfrm>
          <a:prstGeom prst="rect">
            <a:avLst/>
          </a:prstGeom>
          <a:solidFill>
            <a:srgbClr val="DEF1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168128" y="2487168"/>
            <a:ext cx="6126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3053"/>
                </a:solidFill>
              </a:defRPr>
            </a:pPr>
            <a:r>
              <a:t>V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780776" y="2386584"/>
            <a:ext cx="612648" cy="530352"/>
          </a:xfrm>
          <a:prstGeom prst="rect">
            <a:avLst/>
          </a:prstGeom>
          <a:solidFill>
            <a:srgbClr val="DEF1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780776" y="2487168"/>
            <a:ext cx="6126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3053"/>
                </a:solidFill>
              </a:defRPr>
            </a:pPr>
            <a:r>
              <a:t>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0" y="3154680"/>
            <a:ext cx="4937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76FBF"/>
                </a:solidFill>
              </a:defRPr>
            </a:pPr>
            <a:r>
              <a:t>Example keyword: LEMON</a:t>
            </a:r>
          </a:p>
          <a:p>
            <a:pPr>
              <a:defRPr sz="1500">
                <a:solidFill>
                  <a:srgbClr val="646C76"/>
                </a:solidFill>
              </a:defRPr>
            </a:pPr>
            <a:r>
              <a:t>The changing shifts make simple frequency analysis harder.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1520" y="4709160"/>
            <a:ext cx="10789920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31520" y="4709160"/>
            <a:ext cx="73152" cy="1005840"/>
          </a:xfrm>
          <a:prstGeom prst="rect">
            <a:avLst/>
          </a:prstGeom>
          <a:solidFill>
            <a:srgbClr val="2A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32688" y="4873752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3"/>
                </a:solidFill>
                <a:latin typeface="Aptos"/>
              </a:defRPr>
            </a:pPr>
            <a:r>
              <a:t>Key idea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688" y="5367528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t>Caesar uses one alphabet repeatedly; Vigenère rotates through multiple substitution alphabets.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0080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C76"/>
                </a:solidFill>
                <a:latin typeface="Aptos"/>
              </a:defRPr>
            </a:pPr>
            <a:r>
              <a:t>Technical Presentation  •  Cryptography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3"/>
                </a:solidFill>
                <a:latin typeface="Aptos Display"/>
              </a:defRPr>
            </a:pPr>
            <a:r>
              <a:t>5. Caesar vs Vigenère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6012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C76"/>
                </a:solidFill>
                <a:latin typeface="Aptos"/>
              </a:defRPr>
            </a:pPr>
            <a:r>
              <a:t>How the two classical ciphers differ.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2743200" cy="566928"/>
          </a:xfrm>
          <a:prstGeom prst="rect">
            <a:avLst/>
          </a:prstGeom>
          <a:solidFill>
            <a:srgbClr val="18305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53895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325880"/>
            <a:ext cx="2743200" cy="566928"/>
          </a:xfrm>
          <a:prstGeom prst="rect">
            <a:avLst/>
          </a:prstGeom>
          <a:solidFill>
            <a:srgbClr val="18305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453895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Caesar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486400" cy="566928"/>
          </a:xfrm>
          <a:prstGeom prst="rect">
            <a:avLst/>
          </a:prstGeom>
          <a:solidFill>
            <a:srgbClr val="18305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59" y="1453895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Vigenère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892807"/>
            <a:ext cx="2743200" cy="658368"/>
          </a:xfrm>
          <a:prstGeom prst="rect">
            <a:avLst/>
          </a:prstGeom>
          <a:solidFill>
            <a:srgbClr val="F6F8FB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03911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830"/>
                </a:solidFill>
              </a:defRPr>
            </a:pPr>
            <a:r>
              <a:t>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1892807"/>
            <a:ext cx="2743200" cy="658368"/>
          </a:xfrm>
          <a:prstGeom prst="rect">
            <a:avLst/>
          </a:prstGeom>
          <a:solidFill>
            <a:srgbClr val="F6F8FB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6160" y="203911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830"/>
                </a:solidFill>
              </a:defRPr>
            </a:pPr>
            <a:r>
              <a:t>Monoalphabetic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892807"/>
            <a:ext cx="5486400" cy="658368"/>
          </a:xfrm>
          <a:prstGeom prst="rect">
            <a:avLst/>
          </a:prstGeom>
          <a:solidFill>
            <a:srgbClr val="F6F8FB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59" y="203911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830"/>
                </a:solidFill>
              </a:defRPr>
            </a:pPr>
            <a:r>
              <a:t>Polyalphabetic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551176"/>
            <a:ext cx="2743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26974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830"/>
                </a:solidFill>
              </a:defRPr>
            </a:pPr>
            <a:r>
              <a:t>Key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2551176"/>
            <a:ext cx="2743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66160" y="26974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830"/>
                </a:solidFill>
              </a:defRPr>
            </a:pPr>
            <a:r>
              <a:t>Single shift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551176"/>
            <a:ext cx="5486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59" y="26974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830"/>
                </a:solidFill>
              </a:defRPr>
            </a:pPr>
            <a:r>
              <a:t>Keyword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209544"/>
            <a:ext cx="2743200" cy="658368"/>
          </a:xfrm>
          <a:prstGeom prst="rect">
            <a:avLst/>
          </a:prstGeom>
          <a:solidFill>
            <a:srgbClr val="F6F8FB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3355848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830"/>
                </a:solidFill>
              </a:defRPr>
            </a:pPr>
            <a:r>
              <a:t>Substitution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0" y="3209544"/>
            <a:ext cx="2743200" cy="658368"/>
          </a:xfrm>
          <a:prstGeom prst="rect">
            <a:avLst/>
          </a:prstGeom>
          <a:solidFill>
            <a:srgbClr val="F6F8FB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66160" y="3355848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830"/>
                </a:solidFill>
              </a:defRPr>
            </a:pPr>
            <a:r>
              <a:t>One fixed alphabet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209544"/>
            <a:ext cx="5486400" cy="658368"/>
          </a:xfrm>
          <a:prstGeom prst="rect">
            <a:avLst/>
          </a:prstGeom>
          <a:solidFill>
            <a:srgbClr val="F6F8FB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59" y="3355848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830"/>
                </a:solidFill>
              </a:defRPr>
            </a:pPr>
            <a:r>
              <a:t>Multiple shifting alphabets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867912"/>
            <a:ext cx="2743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4014216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830"/>
                </a:solidFill>
              </a:defRPr>
            </a:pPr>
            <a:r>
              <a:t>Resistance to frequency analysis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3867912"/>
            <a:ext cx="2743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566160" y="4014216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830"/>
                </a:solidFill>
              </a:defRPr>
            </a:pPr>
            <a:r>
              <a:t>Low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867912"/>
            <a:ext cx="5486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09359" y="4014216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830"/>
                </a:solidFill>
              </a:defRPr>
            </a:pPr>
            <a:r>
              <a:t>Higher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526279"/>
            <a:ext cx="2743200" cy="658368"/>
          </a:xfrm>
          <a:prstGeom prst="rect">
            <a:avLst/>
          </a:prstGeom>
          <a:solidFill>
            <a:srgbClr val="F6F8FB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4672583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830"/>
                </a:solidFill>
              </a:defRPr>
            </a:pPr>
            <a:r>
              <a:t>Key space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720" y="4526279"/>
            <a:ext cx="2743200" cy="658368"/>
          </a:xfrm>
          <a:prstGeom prst="rect">
            <a:avLst/>
          </a:prstGeom>
          <a:solidFill>
            <a:srgbClr val="F6F8FB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566160" y="4672583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830"/>
                </a:solidFill>
              </a:defRPr>
            </a:pPr>
            <a:r>
              <a:t>Very small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526279"/>
            <a:ext cx="5486400" cy="658368"/>
          </a:xfrm>
          <a:prstGeom prst="rect">
            <a:avLst/>
          </a:prstGeom>
          <a:solidFill>
            <a:srgbClr val="F6F8FB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09359" y="4672583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830"/>
                </a:solidFill>
              </a:defRPr>
            </a:pPr>
            <a:r>
              <a:t>Much larger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5184648"/>
            <a:ext cx="2743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2960" y="533095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830"/>
                </a:solidFill>
              </a:defRPr>
            </a:pPr>
            <a:r>
              <a:t>Historical security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74720" y="5184648"/>
            <a:ext cx="2743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566160" y="533095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830"/>
                </a:solidFill>
              </a:defRPr>
            </a:pPr>
            <a:r>
              <a:t>Weak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5184648"/>
            <a:ext cx="5486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09359" y="533095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830"/>
                </a:solidFill>
              </a:defRPr>
            </a:pPr>
            <a:r>
              <a:t>Stronger than Caesar, but still breakable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C76"/>
                </a:solidFill>
                <a:latin typeface="Aptos"/>
              </a:defRPr>
            </a:pPr>
            <a:r>
              <a:t>Technical Presentation  •  Cryptography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3"/>
                </a:solidFill>
                <a:latin typeface="Aptos Display"/>
              </a:defRPr>
            </a:pPr>
            <a:r>
              <a:t>9. Advantages, Limitations &amp; Applications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566160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2240280"/>
          </a:xfrm>
          <a:prstGeom prst="rect">
            <a:avLst/>
          </a:prstGeom>
          <a:solidFill>
            <a:srgbClr val="2A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49047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3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84248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t>• Easy to understand</a:t>
            </a:r>
            <a:br/>
            <a:r>
              <a:t>• Fast manual implementation</a:t>
            </a:r>
            <a:br/>
            <a:r>
              <a:t>• Useful for teaching cryptographic concepts</a:t>
            </a:r>
            <a:br/>
            <a:r>
              <a:t>• Demonstrates key-based transformation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325880"/>
            <a:ext cx="3566160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15968" y="1325880"/>
            <a:ext cx="73152" cy="2240280"/>
          </a:xfrm>
          <a:prstGeom prst="rect">
            <a:avLst/>
          </a:prstGeom>
          <a:solidFill>
            <a:srgbClr val="B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17136" y="149047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3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1984248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t>• Vulnerable to cryptanalysis</a:t>
            </a:r>
            <a:br/>
            <a:r>
              <a:t>• Small/structured key spaces</a:t>
            </a:r>
            <a:br/>
            <a:r>
              <a:t>• Repeated patterns can leak information</a:t>
            </a:r>
            <a:br/>
            <a:r>
              <a:t>• Not suitable for modern sensitive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325880"/>
            <a:ext cx="3566160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91856" y="1325880"/>
            <a:ext cx="73152" cy="224028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93024" y="149047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3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1984248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t>• Cryptography education</a:t>
            </a:r>
            <a:br/>
            <a:r>
              <a:t>• Historical analysis</a:t>
            </a:r>
            <a:br/>
            <a:r>
              <a:t>• Algorithm demonstrations</a:t>
            </a:r>
            <a:br/>
            <a:r>
              <a:t>• Introductory programming experiments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32830"/>
                </a:solidFill>
                <a:latin typeface="Aptos"/>
              </a:defRPr>
            </a:pPr>
            <a:r>
              <a:t>Main takeaway: security depends not only on encryption, but also on key size, algorithm design, implementation, and threat model.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C76"/>
                </a:solidFill>
                <a:latin typeface="Aptos"/>
              </a:defRPr>
            </a:pPr>
            <a:r>
              <a:t>Technical Presentation  •  Cryptography                                     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3"/>
                </a:solidFill>
                <a:latin typeface="Aptos Display"/>
              </a:defRPr>
            </a:pPr>
            <a:r>
              <a:t>10. Conclusion &amp;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486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t>Caesar introduced the idea of shifting letters using a fixed key.</a:t>
            </a:r>
          </a:p>
          <a:p>
            <a:pPr>
              <a:spcAft>
                <a:spcPts val="90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t>Its weaknesses led to stronger classical approaches such as the Vigenère cipher.</a:t>
            </a:r>
          </a:p>
          <a:p>
            <a:pPr>
              <a:spcAft>
                <a:spcPts val="90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t>Vigenère uses multiple substitution alphabets and reduces simple frequency leakage.</a:t>
            </a:r>
          </a:p>
          <a:p>
            <a:pPr>
              <a:spcAft>
                <a:spcPts val="900"/>
              </a:spcAft>
              <a:defRPr sz="1800">
                <a:solidFill>
                  <a:srgbClr val="232830"/>
                </a:solidFill>
                <a:latin typeface="Aptos"/>
              </a:defRPr>
            </a:pPr>
            <a:r>
              <a:t>Modern cryptography goes much further, using mathematically stronger algorithms and secure key management.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325880"/>
            <a:ext cx="4754880" cy="105156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37960" y="1325880"/>
            <a:ext cx="73152" cy="105156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39128" y="1490472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3"/>
                </a:solidFill>
                <a:latin typeface="Aptos"/>
              </a:defRPr>
            </a:pPr>
            <a:r>
              <a:t>Reference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9128" y="1984248"/>
            <a:ext cx="438912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t>William Stallings, Cryptography and Network Security.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560320"/>
            <a:ext cx="4754880" cy="105156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37960" y="2560320"/>
            <a:ext cx="73152" cy="1051560"/>
          </a:xfrm>
          <a:prstGeom prst="rect">
            <a:avLst/>
          </a:prstGeom>
          <a:solidFill>
            <a:srgbClr val="2A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39128" y="2724912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3"/>
                </a:solidFill>
                <a:latin typeface="Aptos"/>
              </a:defRPr>
            </a:pPr>
            <a:r>
              <a:t>Reference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3218687"/>
            <a:ext cx="438912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t>Jonathan Katz &amp; Yehuda Lindell, Introduction to Modern Cryptography.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3794760"/>
            <a:ext cx="4754880" cy="105156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37960" y="3794760"/>
            <a:ext cx="73152" cy="1051560"/>
          </a:xfrm>
          <a:prstGeom prst="rect">
            <a:avLst/>
          </a:prstGeom>
          <a:solidFill>
            <a:srgbClr val="DC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39128" y="3959352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3"/>
                </a:solidFill>
                <a:latin typeface="Aptos"/>
              </a:defRPr>
            </a:pPr>
            <a:r>
              <a:t>Reference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4453128"/>
            <a:ext cx="438912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t>NIST cryptographic guidance and standards.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92040"/>
            <a:ext cx="5303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053"/>
                </a:solidFill>
              </a:defRPr>
            </a:pPr>
            <a:r>
              <a:t>Thank You</a:t>
            </a:r>
          </a:p>
          <a:p>
            <a:pPr>
              <a:defRPr sz="1800">
                <a:solidFill>
                  <a:srgbClr val="276FBF"/>
                </a:solidFill>
              </a:defRPr>
            </a:pPr>
            <a:r>
              <a:t>Questions?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C76"/>
                </a:solidFill>
                <a:latin typeface="Aptos"/>
              </a:defRPr>
            </a:pPr>
            <a:r>
              <a:t>Technical Presentation  •  Cryptography                                    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714</Words>
  <Application>Microsoft Office PowerPoint</Application>
  <PresentationFormat>Widescreen</PresentationFormat>
  <Paragraphs>157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 B Gnanesh</cp:lastModifiedBy>
  <cp:revision>2</cp:revision>
  <dcterms:created xsi:type="dcterms:W3CDTF">2013-01-27T09:14:16Z</dcterms:created>
  <dcterms:modified xsi:type="dcterms:W3CDTF">2026-10-07T09:18:54Z</dcterms:modified>
  <cp:category/>
</cp:coreProperties>
</file>